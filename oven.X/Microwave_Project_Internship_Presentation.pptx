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0" r:id="rId4"/>
    <p:sldId id="258" r:id="rId5"/>
    <p:sldId id="259" r:id="rId6"/>
    <p:sldId id="260" r:id="rId7"/>
    <p:sldId id="269" r:id="rId8"/>
    <p:sldId id="261" r:id="rId9"/>
    <p:sldId id="262" r:id="rId10"/>
    <p:sldId id="268" r:id="rId11"/>
    <p:sldId id="263" r:id="rId12"/>
    <p:sldId id="264" r:id="rId13"/>
    <p:sldId id="265" r:id="rId14"/>
    <p:sldId id="266" r:id="rId15"/>
    <p:sldId id="267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mertxe.com/news/training-programs/2020/05/15/launch-of-indias-first-online-embedded-systems-course-with-excellent-placements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Microwave Oven Simulator using PIC16F877A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Embedded Systems Internship Project</a:t>
            </a:r>
          </a:p>
          <a:p>
            <a:r>
              <a:rPr dirty="0" err="1"/>
              <a:t>Emertxe</a:t>
            </a:r>
            <a:r>
              <a:rPr dirty="0"/>
              <a:t> Information Technologies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7CB28A-4C06-39FE-1493-31B048EECE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789471" y="587375"/>
            <a:ext cx="5230762" cy="15430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29E8706-759B-56D3-24EE-EDFA9A3DD796}"/>
              </a:ext>
            </a:extLst>
          </p:cNvPr>
          <p:cNvSpPr txBox="1"/>
          <p:nvPr/>
        </p:nvSpPr>
        <p:spPr>
          <a:xfrm>
            <a:off x="938981" y="5545394"/>
            <a:ext cx="69317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</a:rPr>
              <a:t>Pradeep S</a:t>
            </a:r>
          </a:p>
          <a:p>
            <a:pPr algn="ctr"/>
            <a:r>
              <a:rPr lang="en-US" sz="2400" dirty="0">
                <a:latin typeface="Consolas" panose="020B0609020204030204" pitchFamily="49" charset="0"/>
              </a:rPr>
              <a:t>  College of Engineering Guindy –AU</a:t>
            </a:r>
          </a:p>
          <a:p>
            <a:endParaRPr lang="en-IN" sz="24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buFont typeface="Wingdings" panose="05000000000000000000" pitchFamily="2" charset="2"/>
              <a:buChar char="Ø"/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 Microwave Oven Simulator</a:t>
            </a:r>
          </a:p>
          <a:p>
            <a:pPr>
              <a:buFont typeface="Wingdings" panose="05000000000000000000" pitchFamily="2" charset="2"/>
              <a:buChar char="Ø"/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Concept:</a:t>
            </a:r>
          </a:p>
          <a:p>
            <a:pPr lvl="1">
              <a:buFont typeface="Wingdings" panose="05000000000000000000" pitchFamily="2" charset="2"/>
              <a:buChar char="Ø"/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of a fully functional microwave oven control system using PIC16F877A.</a:t>
            </a:r>
          </a:p>
          <a:p>
            <a:pPr lvl="1">
              <a:buFont typeface="Wingdings" panose="05000000000000000000" pitchFamily="2" charset="2"/>
              <a:buChar char="Ø"/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replicating user interface workflows, timing, and load control.</a:t>
            </a:r>
          </a:p>
          <a:p>
            <a:pPr>
              <a:buFont typeface="Wingdings" panose="05000000000000000000" pitchFamily="2" charset="2"/>
              <a:buChar char="Ø"/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</a:p>
          <a:p>
            <a:pPr lvl="1">
              <a:buFont typeface="Wingdings" panose="05000000000000000000" pitchFamily="2" charset="2"/>
              <a:buChar char="Ø"/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Modes: Micro, Grill, Convection, Start.</a:t>
            </a:r>
          </a:p>
          <a:p>
            <a:pPr lvl="1">
              <a:buFont typeface="Wingdings" panose="05000000000000000000" pitchFamily="2" charset="2"/>
              <a:buChar char="Ø"/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Interface: 4x4 Matrix Keypad, 16x4 CLCD.</a:t>
            </a:r>
          </a:p>
          <a:p>
            <a:pPr lvl="1">
              <a:buFont typeface="Wingdings" panose="05000000000000000000" pitchFamily="2" charset="2"/>
              <a:buChar char="Ø"/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Timing: Interrupt-based accurate countdown timer.</a:t>
            </a:r>
          </a:p>
          <a:p>
            <a:pPr lvl="1">
              <a:buFont typeface="Wingdings" panose="05000000000000000000" pitchFamily="2" charset="2"/>
              <a:buChar char="Ø"/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Safety: Door status simulation and safe mode transitions.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 descr="Microwave Oven Simulator - System Block Diagram with PIC16F877A Architecture">
            <a:extLst>
              <a:ext uri="{FF2B5EF4-FFF2-40B4-BE49-F238E27FC236}">
                <a16:creationId xmlns:a16="http://schemas.microsoft.com/office/drawing/2014/main" id="{D3DABAF3-B92C-0534-2A6F-4991625546D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5AE4F450-9AF7-83FA-49D9-3307194536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05156" y="451104"/>
            <a:ext cx="8933687" cy="5955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B7E1AC3-4E91-EB82-9967-D7F0C17D776D}"/>
              </a:ext>
            </a:extLst>
          </p:cNvPr>
          <p:cNvSpPr/>
          <p:nvPr/>
        </p:nvSpPr>
        <p:spPr>
          <a:xfrm>
            <a:off x="6217920" y="1048512"/>
            <a:ext cx="256032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2430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Goals of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buFont typeface="Wingdings" panose="05000000000000000000" pitchFamily="2" charset="2"/>
              <a:buChar char="Ø"/>
              <a:defRPr sz="1800"/>
            </a:pPr>
            <a:r>
              <a:rPr dirty="0"/>
              <a:t>Primary Objective:</a:t>
            </a:r>
          </a:p>
          <a:p>
            <a:pPr lvl="1">
              <a:buFont typeface="Wingdings" panose="05000000000000000000" pitchFamily="2" charset="2"/>
              <a:buChar char="Ø"/>
              <a:defRPr sz="1800"/>
            </a:pPr>
            <a:r>
              <a:rPr dirty="0"/>
              <a:t>Bridge gap between academic theory and industry-standard embedded development.</a:t>
            </a:r>
          </a:p>
          <a:p>
            <a:pPr>
              <a:buFont typeface="Wingdings" panose="05000000000000000000" pitchFamily="2" charset="2"/>
              <a:buChar char="Ø"/>
              <a:defRPr sz="1800"/>
            </a:pPr>
            <a:r>
              <a:rPr dirty="0"/>
              <a:t>Learning Outcomes:</a:t>
            </a:r>
          </a:p>
          <a:p>
            <a:pPr lvl="1">
              <a:buFont typeface="Wingdings" panose="05000000000000000000" pitchFamily="2" charset="2"/>
              <a:buChar char="Ø"/>
              <a:defRPr sz="1800"/>
            </a:pPr>
            <a:r>
              <a:rPr dirty="0"/>
              <a:t>Microcontroller Architecture: In-depth understanding of PIC16F877A.</a:t>
            </a:r>
          </a:p>
          <a:p>
            <a:pPr lvl="1">
              <a:buFont typeface="Wingdings" panose="05000000000000000000" pitchFamily="2" charset="2"/>
              <a:buChar char="Ø"/>
              <a:defRPr sz="1800"/>
            </a:pPr>
            <a:r>
              <a:rPr dirty="0"/>
              <a:t>Embedded C Programming: Mastery of bitwise operations and register manipulation.</a:t>
            </a:r>
          </a:p>
          <a:p>
            <a:pPr lvl="1">
              <a:buFont typeface="Wingdings" panose="05000000000000000000" pitchFamily="2" charset="2"/>
              <a:buChar char="Ø"/>
              <a:defRPr sz="1800"/>
            </a:pPr>
            <a:r>
              <a:rPr dirty="0"/>
              <a:t>Peripheral Interfacing: GPIO, Timers, Interrupts, LCDs, Keypads.</a:t>
            </a:r>
          </a:p>
          <a:p>
            <a:pPr lvl="1">
              <a:buFont typeface="Wingdings" panose="05000000000000000000" pitchFamily="2" charset="2"/>
              <a:buChar char="Ø"/>
              <a:defRPr sz="1800"/>
            </a:pPr>
            <a:r>
              <a:rPr dirty="0"/>
              <a:t>State Machine Design: Implementing FSM for complex control logic.</a:t>
            </a:r>
          </a:p>
          <a:p>
            <a:pPr lvl="1">
              <a:buFont typeface="Wingdings" panose="05000000000000000000" pitchFamily="2" charset="2"/>
              <a:buChar char="Ø"/>
              <a:defRPr sz="1800"/>
            </a:pPr>
            <a:r>
              <a:rPr dirty="0"/>
              <a:t>Debugging: Using MPLAB X IDE and simulators.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Brief about Embedded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Definition:</a:t>
            </a:r>
          </a:p>
          <a:p>
            <a:pPr lvl="1">
              <a:defRPr sz="1800"/>
            </a:pPr>
            <a:r>
              <a:t>Computing system dedicated to a specific function within a larger system.</a:t>
            </a:r>
          </a:p>
          <a:p>
            <a:pPr>
              <a:defRPr sz="1800"/>
            </a:pPr>
            <a:r>
              <a:t>Characteristics:</a:t>
            </a:r>
          </a:p>
          <a:p>
            <a:pPr lvl="1">
              <a:defRPr sz="1800"/>
            </a:pPr>
            <a:r>
              <a:t>Specific Purpose: Designed for a singular task.</a:t>
            </a:r>
          </a:p>
          <a:p>
            <a:pPr lvl="1">
              <a:defRPr sz="1800"/>
            </a:pPr>
            <a:r>
              <a:t>Resource Constrained: Limited RAM/Flash/Processing power.</a:t>
            </a:r>
          </a:p>
          <a:p>
            <a:pPr lvl="1">
              <a:defRPr sz="1800"/>
            </a:pPr>
            <a:r>
              <a:t>Reliability: Expected to run continuously.</a:t>
            </a:r>
          </a:p>
          <a:p>
            <a:pPr lvl="1">
              <a:defRPr sz="1800"/>
            </a:pPr>
            <a:r>
              <a:t>Real-Time: Strict timing deadlines (hard or soft real-time).</a:t>
            </a:r>
          </a:p>
          <a:p>
            <a:pPr>
              <a:defRPr sz="1800"/>
            </a:pPr>
            <a:r>
              <a:t>Relevance:</a:t>
            </a:r>
          </a:p>
          <a:p>
            <a:pPr lvl="1">
              <a:defRPr sz="1800"/>
            </a:pPr>
            <a:r>
              <a:t>Automotive, Consumer Electronics, Medical Devices, Industrial Automation.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Brief &amp;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Functional Requirements:</a:t>
            </a:r>
          </a:p>
          <a:p>
            <a:pPr lvl="1">
              <a:defRPr sz="1800"/>
            </a:pPr>
            <a:r>
              <a:t>1. Power On: Welcome screen and initialization.</a:t>
            </a:r>
          </a:p>
          <a:p>
            <a:pPr lvl="1">
              <a:defRPr sz="1800"/>
            </a:pPr>
            <a:r>
              <a:t>2. Menu System: Select between Micro, Grill, Convection, Start.</a:t>
            </a:r>
          </a:p>
          <a:p>
            <a:pPr lvl="1">
              <a:defRPr sz="1800"/>
            </a:pPr>
            <a:r>
              <a:t>3. Input Handling: Matrix Keypad (0-9, *, #).</a:t>
            </a:r>
          </a:p>
          <a:p>
            <a:pPr lvl="1">
              <a:defRPr sz="1800"/>
            </a:pPr>
            <a:r>
              <a:t>4. Display: Show mode, time, temperature on CLCD.</a:t>
            </a:r>
          </a:p>
          <a:p>
            <a:pPr lvl="1">
              <a:defRPr sz="1800"/>
            </a:pPr>
            <a:r>
              <a:t>5. Load Control: Relay/Fan status (simulate heating).</a:t>
            </a:r>
          </a:p>
          <a:p>
            <a:pPr lvl="1">
              <a:defRPr sz="1800"/>
            </a:pPr>
            <a:r>
              <a:t>6. Alerts: Buzzer notification on completion.</a:t>
            </a:r>
          </a:p>
          <a:p>
            <a:pPr>
              <a:defRPr sz="1800"/>
            </a:pPr>
            <a:r>
              <a:t>Non-Functional Requirements:</a:t>
            </a:r>
          </a:p>
          <a:p>
            <a:pPr lvl="1">
              <a:defRPr sz="1800"/>
            </a:pPr>
            <a:r>
              <a:t>Responsiveness, Accuracy (Timer), Usability.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1E147-A13D-5D4D-32AB-513BA9D24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EB9CFF9-7919-D464-4506-EF42E87191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9331D9-9CE2-ABFE-D748-E8A851B8E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062" y="387260"/>
            <a:ext cx="8021876" cy="608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463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15760"/>
            <a:ext cx="8229600" cy="1143000"/>
          </a:xfrm>
        </p:spPr>
        <p:txBody>
          <a:bodyPr/>
          <a:lstStyle/>
          <a:p>
            <a:r>
              <a:rPr dirty="0"/>
              <a:t>System Design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buFont typeface="Wingdings" panose="05000000000000000000" pitchFamily="2" charset="2"/>
              <a:buChar char="Ø"/>
              <a:defRPr sz="1800"/>
            </a:pPr>
            <a:r>
              <a:rPr dirty="0"/>
              <a:t>Controller: PIC16F877A (20 MHz)</a:t>
            </a:r>
          </a:p>
          <a:p>
            <a:pPr>
              <a:buFont typeface="Wingdings" panose="05000000000000000000" pitchFamily="2" charset="2"/>
              <a:buChar char="Ø"/>
              <a:defRPr sz="1800"/>
            </a:pPr>
            <a:r>
              <a:rPr dirty="0"/>
              <a:t>Input: 4x4 Matrix Keypad (PORTD)</a:t>
            </a:r>
          </a:p>
          <a:p>
            <a:pPr lvl="1">
              <a:buFont typeface="Wingdings" panose="05000000000000000000" pitchFamily="2" charset="2"/>
              <a:buChar char="Ø"/>
              <a:defRPr sz="1800"/>
            </a:pPr>
            <a:r>
              <a:rPr dirty="0"/>
              <a:t>Rows and Columns scanning.</a:t>
            </a:r>
          </a:p>
          <a:p>
            <a:pPr>
              <a:buFont typeface="Wingdings" panose="05000000000000000000" pitchFamily="2" charset="2"/>
              <a:buChar char="Ø"/>
              <a:defRPr sz="1800"/>
            </a:pPr>
            <a:r>
              <a:rPr dirty="0"/>
              <a:t>Output: 16x4 CLCD (PORTD &amp; PORTE)</a:t>
            </a:r>
          </a:p>
          <a:p>
            <a:pPr lvl="1">
              <a:buFont typeface="Wingdings" panose="05000000000000000000" pitchFamily="2" charset="2"/>
              <a:buChar char="Ø"/>
              <a:defRPr sz="1800"/>
            </a:pPr>
            <a:r>
              <a:rPr dirty="0"/>
              <a:t>Displays Menus, Timer, Temperature.</a:t>
            </a:r>
          </a:p>
          <a:p>
            <a:pPr>
              <a:buFont typeface="Wingdings" panose="05000000000000000000" pitchFamily="2" charset="2"/>
              <a:buChar char="Ø"/>
              <a:defRPr sz="1800"/>
            </a:pPr>
            <a:r>
              <a:rPr dirty="0"/>
              <a:t>Actuators:</a:t>
            </a:r>
          </a:p>
          <a:p>
            <a:pPr lvl="1">
              <a:buFont typeface="Wingdings" panose="05000000000000000000" pitchFamily="2" charset="2"/>
              <a:buChar char="Ø"/>
              <a:defRPr sz="1800"/>
            </a:pPr>
            <a:r>
              <a:rPr dirty="0"/>
              <a:t>Fan/Heater (RC2): Simulates Magnetron.</a:t>
            </a:r>
          </a:p>
          <a:p>
            <a:pPr lvl="1">
              <a:buFont typeface="Wingdings" panose="05000000000000000000" pitchFamily="2" charset="2"/>
              <a:buChar char="Ø"/>
              <a:defRPr sz="1800"/>
            </a:pPr>
            <a:r>
              <a:rPr dirty="0"/>
              <a:t>Buzzer (RC1): Audio feedback.</a:t>
            </a:r>
          </a:p>
          <a:p>
            <a:pPr>
              <a:buFont typeface="Wingdings" panose="05000000000000000000" pitchFamily="2" charset="2"/>
              <a:buChar char="Ø"/>
              <a:defRPr sz="1800"/>
            </a:pPr>
            <a:r>
              <a:rPr dirty="0"/>
              <a:t>Timer Module:</a:t>
            </a:r>
          </a:p>
          <a:p>
            <a:pPr lvl="1">
              <a:buFont typeface="Wingdings" panose="05000000000000000000" pitchFamily="2" charset="2"/>
              <a:buChar char="Ø"/>
              <a:defRPr sz="1800"/>
            </a:pPr>
            <a:r>
              <a:rPr dirty="0"/>
              <a:t>Timer2 used for 1-second interrupts.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Hardware &amp; Simulation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845" y="2057399"/>
            <a:ext cx="8229600" cy="4525963"/>
          </a:xfrm>
        </p:spPr>
        <p:txBody>
          <a:bodyPr wrap="square"/>
          <a:lstStyle/>
          <a:p>
            <a:pPr>
              <a:buFont typeface="Wingdings" panose="05000000000000000000" pitchFamily="2" charset="2"/>
              <a:buChar char="Ø"/>
              <a:defRPr sz="1800"/>
            </a:pPr>
            <a:r>
              <a:rPr dirty="0"/>
              <a:t>Board/Simulator:</a:t>
            </a:r>
          </a:p>
          <a:p>
            <a:pPr lvl="1">
              <a:buFont typeface="Wingdings" panose="05000000000000000000" pitchFamily="2" charset="2"/>
              <a:buChar char="Ø"/>
              <a:defRPr sz="1800"/>
            </a:pPr>
            <a:r>
              <a:rPr dirty="0" err="1"/>
              <a:t>PICGenios</a:t>
            </a:r>
            <a:r>
              <a:rPr dirty="0"/>
              <a:t> Development Board / Proteus / </a:t>
            </a:r>
            <a:r>
              <a:rPr dirty="0" err="1"/>
              <a:t>PiximLab</a:t>
            </a:r>
            <a:r>
              <a:rPr dirty="0"/>
              <a:t>.</a:t>
            </a:r>
          </a:p>
          <a:p>
            <a:pPr lvl="1">
              <a:buFont typeface="Wingdings" panose="05000000000000000000" pitchFamily="2" charset="2"/>
              <a:buChar char="Ø"/>
              <a:defRPr sz="1800"/>
            </a:pPr>
            <a:r>
              <a:rPr dirty="0"/>
              <a:t>MCU: PIC16F877A (40-pin DIP).</a:t>
            </a:r>
          </a:p>
          <a:p>
            <a:pPr>
              <a:buFont typeface="Wingdings" panose="05000000000000000000" pitchFamily="2" charset="2"/>
              <a:buChar char="Ø"/>
              <a:defRPr sz="1800"/>
            </a:pPr>
            <a:r>
              <a:rPr dirty="0"/>
              <a:t>Key Hardware Specs:</a:t>
            </a:r>
          </a:p>
          <a:p>
            <a:pPr lvl="1">
              <a:buFont typeface="Wingdings" panose="05000000000000000000" pitchFamily="2" charset="2"/>
              <a:buChar char="Ø"/>
              <a:defRPr sz="1800"/>
            </a:pPr>
            <a:r>
              <a:rPr dirty="0"/>
              <a:t>GPIO: Digital I/O for Keypad and LCD.</a:t>
            </a:r>
          </a:p>
          <a:p>
            <a:pPr lvl="1">
              <a:buFont typeface="Wingdings" panose="05000000000000000000" pitchFamily="2" charset="2"/>
              <a:buChar char="Ø"/>
              <a:defRPr sz="1800"/>
            </a:pPr>
            <a:r>
              <a:rPr dirty="0"/>
              <a:t>Timers: Timer2 (8-bit) with </a:t>
            </a:r>
            <a:r>
              <a:rPr dirty="0" err="1"/>
              <a:t>Prescaler</a:t>
            </a:r>
            <a:r>
              <a:rPr dirty="0"/>
              <a:t>/</a:t>
            </a:r>
            <a:r>
              <a:rPr dirty="0" err="1"/>
              <a:t>Postscaler</a:t>
            </a:r>
            <a:r>
              <a:rPr dirty="0"/>
              <a:t>.</a:t>
            </a:r>
          </a:p>
          <a:p>
            <a:pPr lvl="1">
              <a:buFont typeface="Wingdings" panose="05000000000000000000" pitchFamily="2" charset="2"/>
              <a:buChar char="Ø"/>
              <a:defRPr sz="1800"/>
            </a:pPr>
            <a:r>
              <a:rPr dirty="0"/>
              <a:t>Interrupts: TMR2IE for non-blocking timing.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02E0F-95BE-D573-A46D-B64559B2C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FFBB7-AA2B-AE1C-36C0-6E331E0DB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D10546-BBC5-A761-51E4-2D2A1C245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651"/>
            <a:ext cx="9144000" cy="6720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927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Development Process &amp;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buFont typeface="Wingdings" panose="05000000000000000000" pitchFamily="2" charset="2"/>
              <a:buChar char="Ø"/>
              <a:defRPr sz="1800"/>
            </a:pPr>
            <a:r>
              <a:rPr dirty="0"/>
              <a:t>Software Tools:</a:t>
            </a:r>
          </a:p>
          <a:p>
            <a:pPr lvl="1">
              <a:buFont typeface="Wingdings" panose="05000000000000000000" pitchFamily="2" charset="2"/>
              <a:buChar char="Ø"/>
              <a:defRPr sz="1800"/>
            </a:pPr>
            <a:r>
              <a:rPr dirty="0"/>
              <a:t>MPLAB X IDE: Development Environment.</a:t>
            </a:r>
          </a:p>
          <a:p>
            <a:pPr lvl="1">
              <a:buFont typeface="Wingdings" panose="05000000000000000000" pitchFamily="2" charset="2"/>
              <a:buChar char="Ø"/>
              <a:defRPr sz="1800"/>
            </a:pPr>
            <a:r>
              <a:rPr dirty="0"/>
              <a:t>XC8 Compiler: C Compiler for PIC.</a:t>
            </a:r>
          </a:p>
          <a:p>
            <a:pPr lvl="1">
              <a:buFont typeface="Wingdings" panose="05000000000000000000" pitchFamily="2" charset="2"/>
              <a:buChar char="Ø"/>
              <a:defRPr sz="1800"/>
            </a:pPr>
            <a:r>
              <a:rPr dirty="0"/>
              <a:t>Simulators: For logic testing.</a:t>
            </a:r>
          </a:p>
          <a:p>
            <a:pPr>
              <a:buFont typeface="Wingdings" panose="05000000000000000000" pitchFamily="2" charset="2"/>
              <a:buChar char="Ø"/>
              <a:defRPr sz="1800"/>
            </a:pPr>
            <a:r>
              <a:rPr dirty="0"/>
              <a:t>Development Workflow:</a:t>
            </a:r>
          </a:p>
          <a:p>
            <a:pPr lvl="1">
              <a:buFont typeface="Wingdings" panose="05000000000000000000" pitchFamily="2" charset="2"/>
              <a:buChar char="Ø"/>
              <a:defRPr sz="1800"/>
            </a:pPr>
            <a:r>
              <a:rPr dirty="0"/>
              <a:t>1. Requirement Analysis.</a:t>
            </a:r>
          </a:p>
          <a:p>
            <a:pPr lvl="1">
              <a:buFont typeface="Wingdings" panose="05000000000000000000" pitchFamily="2" charset="2"/>
              <a:buChar char="Ø"/>
              <a:defRPr sz="1800"/>
            </a:pPr>
            <a:r>
              <a:rPr dirty="0"/>
              <a:t>2. Driver Development (LCD, Keypad).</a:t>
            </a:r>
          </a:p>
          <a:p>
            <a:pPr lvl="1">
              <a:buFont typeface="Wingdings" panose="05000000000000000000" pitchFamily="2" charset="2"/>
              <a:buChar char="Ø"/>
              <a:defRPr sz="1800"/>
            </a:pPr>
            <a:r>
              <a:rPr dirty="0"/>
              <a:t>3. Logic Implementation (FSM).</a:t>
            </a:r>
          </a:p>
          <a:p>
            <a:pPr lvl="1">
              <a:buFont typeface="Wingdings" panose="05000000000000000000" pitchFamily="2" charset="2"/>
              <a:buChar char="Ø"/>
              <a:defRPr sz="1800"/>
            </a:pPr>
            <a:r>
              <a:rPr dirty="0"/>
              <a:t>4. Integration.</a:t>
            </a:r>
          </a:p>
          <a:p>
            <a:pPr lvl="1">
              <a:buFont typeface="Wingdings" panose="05000000000000000000" pitchFamily="2" charset="2"/>
              <a:buChar char="Ø"/>
              <a:defRPr sz="1800"/>
            </a:pPr>
            <a:r>
              <a:rPr dirty="0"/>
              <a:t>5. Testing &amp; Tuning (Timer calibration).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BA79C4FD-189A-0646-5C44-40F39A0F71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2604" y="1292138"/>
            <a:ext cx="1205764" cy="1004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PICSimLab 0.9.2">
            <a:extLst>
              <a:ext uri="{FF2B5EF4-FFF2-40B4-BE49-F238E27FC236}">
                <a16:creationId xmlns:a16="http://schemas.microsoft.com/office/drawing/2014/main" id="{81C9CB87-7A1A-593B-925D-711C192EA5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0933" y="2522991"/>
            <a:ext cx="1137435" cy="1137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32E8887-04E5-1D03-1C47-E81883D6E3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8586" y="4023044"/>
            <a:ext cx="1320314" cy="115061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Implementation Details - State Machine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buFont typeface="Wingdings" panose="05000000000000000000" pitchFamily="2" charset="2"/>
              <a:buChar char="Ø"/>
              <a:defRPr sz="1800"/>
            </a:pPr>
            <a:r>
              <a:rPr dirty="0"/>
              <a:t>Finite State Machine (FSM):</a:t>
            </a:r>
          </a:p>
          <a:p>
            <a:pPr lvl="1">
              <a:buFont typeface="Wingdings" panose="05000000000000000000" pitchFamily="2" charset="2"/>
              <a:buChar char="Ø"/>
              <a:defRPr sz="1800"/>
            </a:pPr>
            <a:r>
              <a:rPr dirty="0"/>
              <a:t>Manages system complexity and mode sets.</a:t>
            </a:r>
          </a:p>
          <a:p>
            <a:pPr>
              <a:buFont typeface="Wingdings" panose="05000000000000000000" pitchFamily="2" charset="2"/>
              <a:buChar char="Ø"/>
              <a:defRPr sz="1800"/>
            </a:pPr>
            <a:r>
              <a:rPr dirty="0"/>
              <a:t>States:</a:t>
            </a:r>
          </a:p>
          <a:p>
            <a:pPr lvl="1">
              <a:buFont typeface="Wingdings" panose="05000000000000000000" pitchFamily="2" charset="2"/>
              <a:buChar char="Ø"/>
              <a:defRPr sz="1800"/>
            </a:pPr>
            <a:r>
              <a:rPr dirty="0"/>
              <a:t>MAIN_MENU: Waiting for selection.</a:t>
            </a:r>
          </a:p>
          <a:p>
            <a:pPr lvl="1">
              <a:buFont typeface="Wingdings" panose="05000000000000000000" pitchFamily="2" charset="2"/>
              <a:buChar char="Ø"/>
              <a:defRPr sz="1800"/>
            </a:pPr>
            <a:r>
              <a:rPr dirty="0"/>
              <a:t>MICRO/GRILL/CONVECTION: Configuration.</a:t>
            </a:r>
          </a:p>
          <a:p>
            <a:pPr lvl="1">
              <a:buFont typeface="Wingdings" panose="05000000000000000000" pitchFamily="2" charset="2"/>
              <a:buChar char="Ø"/>
              <a:defRPr sz="1800"/>
            </a:pPr>
            <a:r>
              <a:rPr dirty="0"/>
              <a:t>TIME_DISPLAY: Active cooking state.</a:t>
            </a:r>
          </a:p>
          <a:p>
            <a:pPr lvl="1">
              <a:buFont typeface="Wingdings" panose="05000000000000000000" pitchFamily="2" charset="2"/>
              <a:buChar char="Ø"/>
              <a:defRPr sz="1800"/>
            </a:pPr>
            <a:r>
              <a:rPr dirty="0"/>
              <a:t>PAUSE/STOP: Control states.</a:t>
            </a:r>
          </a:p>
          <a:p>
            <a:pPr>
              <a:buFont typeface="Wingdings" panose="05000000000000000000" pitchFamily="2" charset="2"/>
              <a:buChar char="Ø"/>
              <a:defRPr sz="1800"/>
            </a:pPr>
            <a:r>
              <a:rPr dirty="0"/>
              <a:t>Logic:</a:t>
            </a:r>
          </a:p>
          <a:p>
            <a:pPr lvl="1">
              <a:buFont typeface="Wingdings" panose="05000000000000000000" pitchFamily="2" charset="2"/>
              <a:buChar char="Ø"/>
              <a:defRPr sz="1800"/>
            </a:pPr>
            <a:r>
              <a:rPr dirty="0"/>
              <a:t>Switch-case structure processing 'state' variable.</a:t>
            </a:r>
          </a:p>
          <a:p>
            <a:pPr lvl="1">
              <a:buFont typeface="Wingdings" panose="05000000000000000000" pitchFamily="2" charset="2"/>
              <a:buChar char="Ø"/>
              <a:defRPr sz="1800"/>
            </a:pPr>
            <a:r>
              <a:rPr dirty="0"/>
              <a:t>Transitions triggered by keypad input.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Implementation Details - Timer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  <a:defRPr sz="1800"/>
            </a:pPr>
            <a:r>
              <a:rPr dirty="0"/>
              <a:t>Challenge: keeping accurate time + responsive UI.</a:t>
            </a:r>
          </a:p>
          <a:p>
            <a:pPr>
              <a:buFont typeface="Wingdings" panose="05000000000000000000" pitchFamily="2" charset="2"/>
              <a:buChar char="Ø"/>
              <a:defRPr sz="1800"/>
            </a:pPr>
            <a:r>
              <a:rPr dirty="0"/>
              <a:t>Solution: Interrupt Service Routine (ISR).</a:t>
            </a:r>
          </a:p>
          <a:p>
            <a:pPr>
              <a:buFont typeface="Wingdings" panose="05000000000000000000" pitchFamily="2" charset="2"/>
              <a:buChar char="Ø"/>
              <a:defRPr sz="1800"/>
            </a:pPr>
            <a:r>
              <a:rPr dirty="0"/>
              <a:t>Mechanism:</a:t>
            </a:r>
          </a:p>
          <a:p>
            <a:pPr lvl="1">
              <a:buFont typeface="Wingdings" panose="05000000000000000000" pitchFamily="2" charset="2"/>
              <a:buChar char="Ø"/>
              <a:defRPr sz="1800"/>
            </a:pPr>
            <a:r>
              <a:rPr dirty="0"/>
              <a:t>Timer2 overflows every few </a:t>
            </a:r>
            <a:r>
              <a:rPr dirty="0" err="1"/>
              <a:t>ms.</a:t>
            </a:r>
            <a:endParaRPr dirty="0"/>
          </a:p>
          <a:p>
            <a:pPr lvl="1">
              <a:buFont typeface="Wingdings" panose="05000000000000000000" pitchFamily="2" charset="2"/>
              <a:buChar char="Ø"/>
              <a:defRPr sz="1800"/>
            </a:pPr>
            <a:r>
              <a:rPr dirty="0"/>
              <a:t>ISR increments a counter.</a:t>
            </a:r>
          </a:p>
          <a:p>
            <a:pPr lvl="1">
              <a:buFont typeface="Wingdings" panose="05000000000000000000" pitchFamily="2" charset="2"/>
              <a:buChar char="Ø"/>
              <a:defRPr sz="1800"/>
            </a:pPr>
            <a:r>
              <a:rPr dirty="0"/>
              <a:t>At calibrated count, 'seconds' variable decrements.</a:t>
            </a:r>
          </a:p>
          <a:p>
            <a:pPr>
              <a:buFont typeface="Wingdings" panose="05000000000000000000" pitchFamily="2" charset="2"/>
              <a:buChar char="Ø"/>
              <a:defRPr sz="1800"/>
            </a:pPr>
            <a:r>
              <a:rPr dirty="0"/>
              <a:t>Calibration:</a:t>
            </a:r>
          </a:p>
          <a:p>
            <a:pPr lvl="1">
              <a:buFont typeface="Wingdings" panose="05000000000000000000" pitchFamily="2" charset="2"/>
              <a:buChar char="Ø"/>
              <a:defRPr sz="1800"/>
            </a:pPr>
            <a:r>
              <a:rPr dirty="0"/>
              <a:t>PR2=250, </a:t>
            </a:r>
            <a:r>
              <a:rPr dirty="0" err="1"/>
              <a:t>Prescaler</a:t>
            </a:r>
            <a:r>
              <a:rPr dirty="0"/>
              <a:t>=1:16.</a:t>
            </a:r>
          </a:p>
          <a:p>
            <a:pPr lvl="1">
              <a:buFont typeface="Wingdings" panose="05000000000000000000" pitchFamily="2" charset="2"/>
              <a:buChar char="Ø"/>
              <a:defRPr sz="1800"/>
            </a:pPr>
            <a:r>
              <a:rPr dirty="0"/>
              <a:t>Counter calibrated to 450 (empirically derived) for 1s accuracy</a:t>
            </a:r>
            <a:r>
              <a:rPr lang="en-US" dirty="0"/>
              <a:t>.</a:t>
            </a:r>
          </a:p>
          <a:p>
            <a:pPr marL="0" indent="0">
              <a:lnSpc>
                <a:spcPts val="2850"/>
              </a:lnSpc>
              <a:buSzPct val="100000"/>
              <a:buNone/>
            </a:pPr>
            <a:r>
              <a:rPr lang="en-US" sz="1400" b="1" dirty="0" err="1">
                <a:latin typeface="Consolas" panose="020B0609020204030204" pitchFamily="49" charset="0"/>
              </a:rPr>
              <a:t>Fosc</a:t>
            </a:r>
            <a:r>
              <a:rPr lang="en-US" sz="1400" b="1" dirty="0">
                <a:latin typeface="Consolas" panose="020B0609020204030204" pitchFamily="49" charset="0"/>
              </a:rPr>
              <a:t> = 20 MHz</a:t>
            </a:r>
          </a:p>
          <a:p>
            <a:pPr marL="0" indent="0">
              <a:buSzPct val="100000"/>
              <a:buNone/>
            </a:pPr>
            <a:r>
              <a:rPr lang="en-US" sz="1400" b="1" dirty="0">
                <a:latin typeface="Consolas" panose="020B0609020204030204" pitchFamily="49" charset="0"/>
              </a:rPr>
              <a:t>Instruction Clock:     </a:t>
            </a:r>
            <a:r>
              <a:rPr lang="en-US" sz="1400" b="1" dirty="0" err="1">
                <a:latin typeface="Consolas" panose="020B0609020204030204" pitchFamily="49" charset="0"/>
              </a:rPr>
              <a:t>Finst</a:t>
            </a:r>
            <a:r>
              <a:rPr lang="en-US" sz="1400" b="1" dirty="0">
                <a:latin typeface="Consolas" panose="020B0609020204030204" pitchFamily="49" charset="0"/>
              </a:rPr>
              <a:t> = </a:t>
            </a:r>
            <a:r>
              <a:rPr lang="en-US" sz="1400" b="1" dirty="0" err="1">
                <a:latin typeface="Consolas" panose="020B0609020204030204" pitchFamily="49" charset="0"/>
              </a:rPr>
              <a:t>Fosc</a:t>
            </a:r>
            <a:r>
              <a:rPr lang="en-US" sz="1400" b="1" dirty="0">
                <a:latin typeface="Consolas" panose="020B0609020204030204" pitchFamily="49" charset="0"/>
              </a:rPr>
              <a:t> / 4 -&gt;  5 MHz</a:t>
            </a:r>
          </a:p>
          <a:p>
            <a:pPr marL="0" indent="0">
              <a:buNone/>
            </a:pPr>
            <a:r>
              <a:rPr lang="en-US" sz="1400" b="1" dirty="0">
                <a:latin typeface="Consolas" panose="020B0609020204030204" pitchFamily="49" charset="0"/>
              </a:rPr>
              <a:t>Instruction Cycle Time: </a:t>
            </a:r>
            <a:r>
              <a:rPr lang="en-US" sz="1400" b="1" dirty="0" err="1">
                <a:latin typeface="Consolas" panose="020B0609020204030204" pitchFamily="49" charset="0"/>
              </a:rPr>
              <a:t>Tinst</a:t>
            </a:r>
            <a:r>
              <a:rPr lang="en-US" sz="1400" b="1" dirty="0">
                <a:latin typeface="Consolas" panose="020B0609020204030204" pitchFamily="49" charset="0"/>
              </a:rPr>
              <a:t> = 1 / </a:t>
            </a:r>
            <a:r>
              <a:rPr lang="en-US" sz="1400" b="1" dirty="0" err="1">
                <a:latin typeface="Consolas" panose="020B0609020204030204" pitchFamily="49" charset="0"/>
              </a:rPr>
              <a:t>Finst</a:t>
            </a:r>
            <a:r>
              <a:rPr lang="en-US" sz="1400" b="1" dirty="0">
                <a:latin typeface="Consolas" panose="020B0609020204030204" pitchFamily="49" charset="0"/>
              </a:rPr>
              <a:t>  -&gt; 0.2 µs</a:t>
            </a:r>
          </a:p>
          <a:p>
            <a:pPr marL="0" indent="0">
              <a:buNone/>
            </a:pPr>
            <a:r>
              <a:rPr lang="en-US" sz="1400" b="1" dirty="0" err="1">
                <a:latin typeface="Consolas" panose="020B0609020204030204" pitchFamily="49" charset="0"/>
              </a:rPr>
              <a:t>Prescaler</a:t>
            </a:r>
            <a:r>
              <a:rPr lang="en-US" sz="1400" b="1" dirty="0">
                <a:latin typeface="Consolas" panose="020B0609020204030204" pitchFamily="49" charset="0"/>
              </a:rPr>
              <a:t> Selected:  </a:t>
            </a:r>
            <a:r>
              <a:rPr lang="en-US" sz="1400" b="1" dirty="0" err="1">
                <a:latin typeface="Consolas" panose="020B0609020204030204" pitchFamily="49" charset="0"/>
              </a:rPr>
              <a:t>Prescaler</a:t>
            </a:r>
            <a:r>
              <a:rPr lang="en-US" sz="1400" b="1" dirty="0">
                <a:latin typeface="Consolas" panose="020B0609020204030204" pitchFamily="49" charset="0"/>
              </a:rPr>
              <a:t> = 1 : 16</a:t>
            </a:r>
          </a:p>
          <a:p>
            <a:pPr marL="0" indent="0">
              <a:buNone/>
            </a:pPr>
            <a:r>
              <a:rPr lang="en-US" sz="1400" b="1" dirty="0" err="1">
                <a:latin typeface="Consolas" panose="020B0609020204030204" pitchFamily="49" charset="0"/>
              </a:rPr>
              <a:t>Ttick</a:t>
            </a:r>
            <a:r>
              <a:rPr lang="en-US" sz="1400" b="1" dirty="0">
                <a:latin typeface="Consolas" panose="020B0609020204030204" pitchFamily="49" charset="0"/>
              </a:rPr>
              <a:t> = </a:t>
            </a:r>
            <a:r>
              <a:rPr lang="en-US" sz="1400" b="1" dirty="0" err="1">
                <a:latin typeface="Consolas" panose="020B0609020204030204" pitchFamily="49" charset="0"/>
              </a:rPr>
              <a:t>Tinst</a:t>
            </a:r>
            <a:r>
              <a:rPr lang="en-US" sz="1400" b="1" dirty="0">
                <a:latin typeface="Consolas" panose="020B0609020204030204" pitchFamily="49" charset="0"/>
              </a:rPr>
              <a:t> × </a:t>
            </a:r>
            <a:r>
              <a:rPr lang="en-US" sz="1400" b="1" dirty="0" err="1">
                <a:latin typeface="Consolas" panose="020B0609020204030204" pitchFamily="49" charset="0"/>
              </a:rPr>
              <a:t>Prescaler</a:t>
            </a:r>
            <a:r>
              <a:rPr lang="en-US" sz="1400" b="1" dirty="0">
                <a:latin typeface="Consolas" panose="020B0609020204030204" pitchFamily="49" charset="0"/>
              </a:rPr>
              <a:t>  -&gt; 3.2 µs</a:t>
            </a:r>
          </a:p>
          <a:p>
            <a:pPr marL="0" indent="0">
              <a:buNone/>
            </a:pPr>
            <a:r>
              <a:rPr lang="en-US" sz="1400" b="1" dirty="0" err="1">
                <a:latin typeface="Consolas" panose="020B0609020204030204" pitchFamily="49" charset="0"/>
              </a:rPr>
              <a:t>Toverflow</a:t>
            </a:r>
            <a:r>
              <a:rPr lang="en-US" sz="1400" b="1" dirty="0">
                <a:latin typeface="Consolas" panose="020B0609020204030204" pitchFamily="49" charset="0"/>
              </a:rPr>
              <a:t> = (PR2 + 1) × </a:t>
            </a:r>
            <a:r>
              <a:rPr lang="en-US" sz="1400" b="1" dirty="0" err="1">
                <a:latin typeface="Consolas" panose="020B0609020204030204" pitchFamily="49" charset="0"/>
              </a:rPr>
              <a:t>Ttick</a:t>
            </a:r>
            <a:r>
              <a:rPr lang="en-US" sz="1400" b="1" dirty="0">
                <a:latin typeface="Consolas" panose="020B0609020204030204" pitchFamily="49" charset="0"/>
              </a:rPr>
              <a:t> -&gt;  800 µs</a:t>
            </a:r>
            <a:endParaRPr lang="en-US" b="1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Modular Project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buFont typeface="Wingdings" panose="05000000000000000000" pitchFamily="2" charset="2"/>
              <a:buChar char="Ø"/>
              <a:defRPr sz="1800"/>
            </a:pPr>
            <a:r>
              <a:rPr sz="2000" dirty="0" err="1"/>
              <a:t>main.c</a:t>
            </a:r>
            <a:r>
              <a:rPr sz="2000" dirty="0"/>
              <a:t>: Entry point, Super Loop, FSM.</a:t>
            </a:r>
          </a:p>
          <a:p>
            <a:pPr>
              <a:buFont typeface="Wingdings" panose="05000000000000000000" pitchFamily="2" charset="2"/>
              <a:buChar char="Ø"/>
              <a:defRPr sz="1800"/>
            </a:pPr>
            <a:r>
              <a:rPr sz="2000" dirty="0" err="1"/>
              <a:t>micro_oven.c</a:t>
            </a:r>
            <a:r>
              <a:rPr sz="2000" dirty="0"/>
              <a:t>: App specific screens/logic.</a:t>
            </a:r>
          </a:p>
          <a:p>
            <a:pPr>
              <a:buFont typeface="Wingdings" panose="05000000000000000000" pitchFamily="2" charset="2"/>
              <a:buChar char="Ø"/>
              <a:defRPr sz="1800"/>
            </a:pPr>
            <a:r>
              <a:rPr sz="2000" dirty="0" err="1"/>
              <a:t>isr.c</a:t>
            </a:r>
            <a:r>
              <a:rPr sz="2000" dirty="0"/>
              <a:t>: Interrupt handling (Timer).</a:t>
            </a:r>
          </a:p>
          <a:p>
            <a:pPr>
              <a:buFont typeface="Wingdings" panose="05000000000000000000" pitchFamily="2" charset="2"/>
              <a:buChar char="Ø"/>
              <a:defRPr sz="1800"/>
            </a:pPr>
            <a:r>
              <a:rPr sz="2000" dirty="0" err="1"/>
              <a:t>timers.c</a:t>
            </a:r>
            <a:r>
              <a:rPr sz="2000" dirty="0"/>
              <a:t>: Timer hardware config.</a:t>
            </a:r>
          </a:p>
          <a:p>
            <a:pPr>
              <a:buFont typeface="Wingdings" panose="05000000000000000000" pitchFamily="2" charset="2"/>
              <a:buChar char="Ø"/>
              <a:defRPr sz="1800"/>
            </a:pPr>
            <a:r>
              <a:rPr sz="2000" dirty="0" err="1"/>
              <a:t>clcd.c</a:t>
            </a:r>
            <a:r>
              <a:rPr sz="2000" dirty="0"/>
              <a:t>: LCD Driver.</a:t>
            </a:r>
          </a:p>
          <a:p>
            <a:pPr>
              <a:buFont typeface="Wingdings" panose="05000000000000000000" pitchFamily="2" charset="2"/>
              <a:buChar char="Ø"/>
              <a:defRPr sz="1800"/>
            </a:pPr>
            <a:r>
              <a:rPr sz="2000" dirty="0" err="1"/>
              <a:t>matrix_keypad.c</a:t>
            </a:r>
            <a:r>
              <a:rPr sz="2000" dirty="0"/>
              <a:t>: Keypad Driver.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CBB3CC-BACB-23BC-681F-597DDF06F6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1844" y="1417638"/>
            <a:ext cx="2780908" cy="37733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rPr dirty="0"/>
              <a:t>Conclusion:</a:t>
            </a:r>
          </a:p>
          <a:p>
            <a:pPr lvl="1">
              <a:defRPr sz="1800"/>
            </a:pPr>
            <a:r>
              <a:rPr dirty="0"/>
              <a:t>Successfully designed/simulated Microwave system.</a:t>
            </a:r>
          </a:p>
          <a:p>
            <a:pPr lvl="1">
              <a:defRPr sz="1800"/>
            </a:pPr>
            <a:r>
              <a:rPr dirty="0"/>
              <a:t>Achieved accurate timing and responsive UI.</a:t>
            </a:r>
          </a:p>
          <a:p>
            <a:pPr lvl="1">
              <a:defRPr sz="1800"/>
            </a:pPr>
            <a:r>
              <a:rPr dirty="0"/>
              <a:t>Demonstrated proficiency in Embedded C.</a:t>
            </a:r>
          </a:p>
          <a:p>
            <a:pPr>
              <a:defRPr sz="1800"/>
            </a:pPr>
            <a:r>
              <a:rPr dirty="0"/>
              <a:t>Future Scope:</a:t>
            </a:r>
          </a:p>
          <a:p>
            <a:pPr lvl="1">
              <a:defRPr sz="1800"/>
            </a:pPr>
            <a:r>
              <a:rPr dirty="0"/>
              <a:t>PWM Control for variable power.</a:t>
            </a:r>
          </a:p>
          <a:p>
            <a:pPr lvl="1">
              <a:defRPr sz="1800"/>
            </a:pPr>
            <a:r>
              <a:rPr dirty="0"/>
              <a:t>EEPROM for saving custom programs.</a:t>
            </a:r>
          </a:p>
          <a:p>
            <a:pPr lvl="1">
              <a:defRPr sz="1800"/>
            </a:pPr>
            <a:r>
              <a:rPr dirty="0"/>
              <a:t>Sensor integration (LM35) for temp control.</a:t>
            </a:r>
          </a:p>
          <a:p>
            <a:pPr lvl="1">
              <a:defRPr sz="1800"/>
            </a:pPr>
            <a:r>
              <a:rPr dirty="0"/>
              <a:t>Hardware implementation on PCB.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814</Words>
  <Application>Microsoft Office PowerPoint</Application>
  <PresentationFormat>On-screen Show (4:3)</PresentationFormat>
  <Paragraphs>118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Consolas</vt:lpstr>
      <vt:lpstr>Times New Roman</vt:lpstr>
      <vt:lpstr>Wingdings</vt:lpstr>
      <vt:lpstr>Office Theme</vt:lpstr>
      <vt:lpstr>Microwave Oven Simulator using PIC16F877A</vt:lpstr>
      <vt:lpstr>Overview</vt:lpstr>
      <vt:lpstr>PowerPoint Presentation</vt:lpstr>
      <vt:lpstr>Goals of Internship</vt:lpstr>
      <vt:lpstr>Brief about Embedded Systems</vt:lpstr>
      <vt:lpstr>Project Brief &amp; Requirements</vt:lpstr>
      <vt:lpstr>PowerPoint Presentation</vt:lpstr>
      <vt:lpstr>System Design </vt:lpstr>
      <vt:lpstr>Hardware &amp; Simulation Environment</vt:lpstr>
      <vt:lpstr>PowerPoint Presentation</vt:lpstr>
      <vt:lpstr>Development Process &amp; Tools</vt:lpstr>
      <vt:lpstr>Implementation Details - State Machine</vt:lpstr>
      <vt:lpstr>Implementation Details - Timer Logic</vt:lpstr>
      <vt:lpstr>Modular Project Structure</vt:lpstr>
      <vt:lpstr>Conclusion &amp; Future Scope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pradeep saravanan</cp:lastModifiedBy>
  <cp:revision>7</cp:revision>
  <dcterms:created xsi:type="dcterms:W3CDTF">2013-01-27T09:14:16Z</dcterms:created>
  <dcterms:modified xsi:type="dcterms:W3CDTF">2026-01-30T12:45:56Z</dcterms:modified>
  <cp:category/>
</cp:coreProperties>
</file>